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Capa baseada na estrutura da prova, que separa formação geral e componente específico.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Página 1 informa a distribuição e os pesos. Questões 9 a 35 exemplificam os formatos objetivos.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Exemplos de situações e comandos aparecem nas questões 9 a 35. Visual gerado com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Questões observadas exigem identificar, interpretar, aplicar, avaliar e resolver situações técnicas.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Referências explícitas às questões indicadas do 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Questões 14, 15, 24 e outras exemplificam cenários organizacionais com decisão técnica. Visual gerado com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Exemplos baseados nos padrões das questões 9, 10, 12, 17, 24 e 30.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Questão autoral. A inspiração estrutural é a Q9 do PDF, que diferencia requisito funcional e não funcional.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Questão autoral inspirada na estrutura da Q17 do 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Fluxo de autoria recomendado com base na análise dos padrões do caderno. Trata-se de síntese metodológica autoral.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Checklist metodológico autoral, informado pelos formatos e problemas técnicos que os itens do PDF exigem distinguir.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Temas identificados diretamente nas questões 9 a 35 do caderno ENADE 2021.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- 2021_PV_tecnologia_analise_desenvolvimento_sistemas.pdf, ENADE 2021 Tecnologia em Análise e Desenvolvimento de Sistemas. Template autoral baseado nos elementos recorrentes das questões objetivas analisadas.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ADS • elaboração de itens objetivos no estilo ENADE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9e64a025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0"/>
            <a:ext cx="53766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051560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Como elaborar questões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técnicas objetivas de ADS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no estilo ENADE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3401568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2EA"/>
                </a:solidFill>
              </a:rPr>
              <a:t>Manual em formato de apresentação, construído a partir dos padrões observáveis na prova ENADE 2021 de Tecnologia em Análise e Desenvolvimento de Sistemas.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8368" y="4645152"/>
            <a:ext cx="2011680" cy="1"/>
          </a:xfrm>
          <a:prstGeom prst="line">
            <a:avLst/>
          </a:prstGeom>
          <a:noFill/>
          <a:ln w="50800">
            <a:solidFill>
              <a:srgbClr val="F47A1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4846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477"/>
                </a:solidFill>
              </a:rPr>
              <a:t>Foco: itens de múltipla escolha do componente específico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1. O que a prova de 2021 revela sobre o formato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Um ponto de partida concreto para construir itens técnicos com aderência ao padrão observado.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9300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64008" cy="192024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819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Componente específico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920240"/>
            <a:ext cx="314553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A prova apresenta questões discursivas D3 a D5 e questões objetivas 9 a 35. No componente específico, as objetivas correspondem a 85% do peso desse componente.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2544" y="1417320"/>
            <a:ext cx="349300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544" y="1417320"/>
            <a:ext cx="64008" cy="1920240"/>
          </a:xfrm>
          <a:prstGeom prst="rect">
            <a:avLst/>
          </a:prstGeom>
          <a:solidFill>
            <a:srgbClr val="246B8E"/>
          </a:solidFill>
          <a:ln w="12700">
            <a:solidFill>
              <a:srgbClr val="246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5819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Contextualização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1920240"/>
            <a:ext cx="314553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Os itens técnicos frequentemente partem de uma situação profissional: fábrica de software, hospital, universidade, banco, restaurante, ERP/CRM ou rede de computadores.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0728" y="1417320"/>
            <a:ext cx="349300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0728" y="1417320"/>
            <a:ext cx="64008" cy="19202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5819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Cinco alternativas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11896" y="1920240"/>
            <a:ext cx="314553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As questões objetivas observadas usam alternativas A a E e solicitam identificar a opção correta ou a combinação correta de afirmações.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" y="40233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A43"/>
                </a:solidFill>
              </a:rPr>
              <a:t>Consequência prática: a questão deve avaliar decisão técnica aplicada, não apenas recordação de definição.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2. Anatomia recomendada de uma questão objetiva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Estrutura derivada dos padrões recorrentes do caderno analisado.</a:t>
            </a:r>
            <a:endParaRPr lang="en-US" sz="1250" dirty="0"/>
          </a:p>
        </p:txBody>
      </p:sp>
      <p:pic>
        <p:nvPicPr>
          <p:cNvPr id="4" name="Image 0" descr="/mnt/data/35d7440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498348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2344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0" y="1234440"/>
            <a:ext cx="64008" cy="96012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53328" y="1399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1 • Situação-problema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53328" y="1737360"/>
            <a:ext cx="509320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Apresente empresa, sistema, usuário, restrição ou necessidade concreta.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52160" y="23774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0" y="2377440"/>
            <a:ext cx="64008" cy="96012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542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2 • Evidência técnica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53328" y="2880360"/>
            <a:ext cx="509320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Inclua código, regra, requisito, diagrama, dados, configuração ou afirmações.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52160" y="35204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0" y="3520440"/>
            <a:ext cx="64008" cy="96012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3685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3 • Comando inequívoco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053328" y="4023360"/>
            <a:ext cx="509320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Ex.: “assinale a opção correta”, “é correto apenas o que se afirma em”.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52160" y="46634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52160" y="4663440"/>
            <a:ext cx="64008" cy="96012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4828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4 • Alternativas homogêneas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53328" y="5166360"/>
            <a:ext cx="509320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Uma resposta tecnicamente defensável e distratores plausíveis no mesmo nível conceitual.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3. O núcleo do item é a habilidade cognitiva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O conteúdo técnico é necessário, mas a pergunta deve exigir alguma operação intelectual observável.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417320" cy="1417320"/>
          </a:xfrm>
          <a:prstGeom prst="ellipse">
            <a:avLst/>
          </a:prstGeom>
          <a:solidFill>
            <a:srgbClr val="F4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IDENTIFICAR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913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06477"/>
                </a:solidFill>
              </a:rPr>
              <a:t>reconhecer requisito funcional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0" y="2286000"/>
            <a:ext cx="502920" cy="457200"/>
          </a:xfrm>
          <a:prstGeom prst="chevron">
            <a:avLst/>
          </a:prstGeom>
          <a:solidFill>
            <a:srgbClr val="BFD1DD"/>
          </a:solidFill>
          <a:ln w="12700">
            <a:solidFill>
              <a:srgbClr val="BFD1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828800"/>
            <a:ext cx="1417320" cy="1417320"/>
          </a:xfrm>
          <a:prstGeom prst="ellipse">
            <a:avLst/>
          </a:prstGeom>
          <a:solidFill>
            <a:srgbClr val="246B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3474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ANALISAR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3913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06477"/>
                </a:solidFill>
              </a:rPr>
              <a:t>interpretar código ou diagrama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2286000"/>
            <a:ext cx="502920" cy="457200"/>
          </a:xfrm>
          <a:prstGeom prst="chevron">
            <a:avLst/>
          </a:prstGeom>
          <a:solidFill>
            <a:srgbClr val="BFD1DD"/>
          </a:solidFill>
          <a:ln w="12700">
            <a:solidFill>
              <a:srgbClr val="BFD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1828800"/>
            <a:ext cx="1417320" cy="1417320"/>
          </a:xfrm>
          <a:prstGeom prst="ellipse">
            <a:avLst/>
          </a:prstGeom>
          <a:solidFill>
            <a:srgbClr val="F4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474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APLICAR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913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06477"/>
                </a:solidFill>
              </a:rPr>
              <a:t>usar SQL, lógica ou rede em cenário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49440" y="2286000"/>
            <a:ext cx="502920" cy="457200"/>
          </a:xfrm>
          <a:prstGeom prst="chevron">
            <a:avLst/>
          </a:prstGeom>
          <a:solidFill>
            <a:srgbClr val="BFD1DD"/>
          </a:solidFill>
          <a:ln w="12700">
            <a:solidFill>
              <a:srgbClr val="BFD1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1828800"/>
            <a:ext cx="1417320" cy="1417320"/>
          </a:xfrm>
          <a:prstGeom prst="ellipse">
            <a:avLst/>
          </a:prstGeom>
          <a:solidFill>
            <a:srgbClr val="246B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3474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AVALIAR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3913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06477"/>
                </a:solidFill>
              </a:rPr>
              <a:t>julgar afirmações técnicas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81160" y="2286000"/>
            <a:ext cx="502920" cy="457200"/>
          </a:xfrm>
          <a:prstGeom prst="chevron">
            <a:avLst/>
          </a:prstGeom>
          <a:solidFill>
            <a:srgbClr val="BFD1DD"/>
          </a:solidFill>
          <a:ln w="12700">
            <a:solidFill>
              <a:srgbClr val="BFD1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12680" y="1828800"/>
            <a:ext cx="1417320" cy="1417320"/>
          </a:xfrm>
          <a:prstGeom prst="ellipse">
            <a:avLst/>
          </a:prstGeom>
          <a:solidFill>
            <a:srgbClr val="F4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3474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SOLUCIONAR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0" y="3913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06477"/>
                </a:solidFill>
              </a:rPr>
              <a:t>selecionar correção ou decisão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34440" y="52578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A43"/>
                </a:solidFill>
              </a:rPr>
              <a:t>Regra de construção: escreva primeiro “o que o estudante deverá fazer mentalmente”; só depois redija o cenário.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4. Tipologias observáveis no componente específico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Use variedade de estruturas para não reduzir a avaliação a um único tipo de raciocínio.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34930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64008" cy="132588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4475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Alternativa direta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783080"/>
            <a:ext cx="314553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Ex.: requisito funcional (Q9), sistema operacional (Q28), manutenção de software (Q23).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2544" y="1280160"/>
            <a:ext cx="34930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544" y="1280160"/>
            <a:ext cx="64008" cy="132588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4475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Análise de código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1783080"/>
            <a:ext cx="314553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Ex.: funções em C (Q10), pilha em Java (Q11), algoritmo/matriz (Q29).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0728" y="1280160"/>
            <a:ext cx="34930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0728" y="1280160"/>
            <a:ext cx="64008" cy="132588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44475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Afirmações I–IV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11896" y="1783080"/>
            <a:ext cx="314553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Ex.: métodos ágeis (Q12), arquitetura (Q19), testes (Q24), CMMI (Q33).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2907792"/>
            <a:ext cx="34930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07792"/>
            <a:ext cx="64008" cy="132588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07238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Modelo/diagrama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" y="3410712"/>
            <a:ext cx="314553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Ex.: classes UML (Q15), sequência (Q16), caso de uso (Q31), modelo relacional (Q17).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52544" y="2907792"/>
            <a:ext cx="34930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2544" y="2907792"/>
            <a:ext cx="64008" cy="132588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07238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Configuração técnica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53712" y="3410712"/>
            <a:ext cx="314553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Ex.: endereçamento IP e máscara de sub-rede em rede local (Q30).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10728" y="2907792"/>
            <a:ext cx="34930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0728" y="2907792"/>
            <a:ext cx="64008" cy="132588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11896" y="307238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Cálculo/lógica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11896" y="3410712"/>
            <a:ext cx="314553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Ex.: conversão entre bases (Q27) e lógica formal implementada em C (Q35).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5. Como criar um bom cenário técnico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Um cenário ENADE-like precisa fornecer dados suficientes e colocar o estudante diante de uma decisão profissional.</a:t>
            </a:r>
            <a:endParaRPr lang="en-US" sz="1250" dirty="0"/>
          </a:p>
        </p:txBody>
      </p:sp>
      <p:pic>
        <p:nvPicPr>
          <p:cNvPr id="4" name="Image 0" descr="/mnt/data/8695fa39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502920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13258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97880" y="1325880"/>
            <a:ext cx="64008" cy="114300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9048" y="14904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Contexto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99048" y="1828800"/>
            <a:ext cx="49560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Organização + objetivo + problema. Ex.: integrar ERP/CRM, registrar pedidos, modelar matrícula.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97880" y="26974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97880" y="2697480"/>
            <a:ext cx="64008" cy="114300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9048" y="28620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Restrições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99048" y="3200400"/>
            <a:ext cx="49560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Tecnologia, desempenho, estrutura de dados, cardinalidades, prazo, dispositivos ou regras do domínio.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97880" y="40690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97880" y="4069080"/>
            <a:ext cx="64008" cy="114300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99048" y="42336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Decisão esperada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099048" y="4572000"/>
            <a:ext cx="49560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Faça o estudante escolher uma implementação, classificação, consulta, modelo ou intervenção tecnicamente consistente.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6. Distratores: onde a qualidade do item é decidida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O erro deve ser plausível para quem domina parcialmente o conteúdo, mas rejeitável por quem raciocina corretamente.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25780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64008" cy="1033272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904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Troca de conceito próximo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828800"/>
            <a:ext cx="491032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Requisito funcional × não funcional; teste caixa-preta × caixa-branca; manutenção corretiva × evolutiva.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525780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87752"/>
            <a:ext cx="64008" cy="1033272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752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Erro operacional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3090672"/>
            <a:ext cx="491032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GROUP BY omitido no SQL; ponteiro/estado não atualizado; máscara de sub-rede incompatível.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849624"/>
            <a:ext cx="525780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849624"/>
            <a:ext cx="64008" cy="1033272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0142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Papel/responsabilidade trocado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4352544"/>
            <a:ext cx="491032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Atribuir backlog ao Scrum Master ou confundir responsabilidades de componentes arquiteturais.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21208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325880"/>
            <a:ext cx="64008" cy="1033272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4904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Generalização indevida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1828800"/>
            <a:ext cx="48646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Transformar uma condição contextual em regra absoluta.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587752"/>
            <a:ext cx="521208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587752"/>
            <a:ext cx="64008" cy="1033272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75234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Alternativa incompleta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9088" y="3090672"/>
            <a:ext cx="48646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Apresentar parte correta da solução, mas omitir a condição que a torna suficiente.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849624"/>
            <a:ext cx="521208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849624"/>
            <a:ext cx="64008" cy="1033272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40142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Combinação de afirmações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19088" y="4352544"/>
            <a:ext cx="48646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Construa afirmações independentes e depois opções com combinações, evitando pistas linguísticas.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7. Exemplo completo: Engenharia de Requisitos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Modelo autoral inspirado na forma da Q9, sem reproduzir o item original.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52536"/>
                </a:solidFill>
              </a:rPr>
              <a:t>Uma plataforma acadêmica será ampliada para permitir solicitação de revisão de notas. A equipe identificou as especificações abaixo. Qual alternativa representa um requisito funcional?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5840" y="2240280"/>
            <a:ext cx="99669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340864"/>
            <a:ext cx="9646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536"/>
                </a:solidFill>
              </a:rPr>
              <a:t>A  A página deve responder em até 2 segundos.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2862072"/>
            <a:ext cx="9966960" cy="438912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962656"/>
            <a:ext cx="9646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536"/>
                </a:solidFill>
              </a:rPr>
              <a:t>B  O sistema deve permitir ao estudante registrar uma solicitação de revisão de nota.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483864"/>
            <a:ext cx="99669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584448"/>
            <a:ext cx="9646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536"/>
                </a:solidFill>
              </a:rPr>
              <a:t>C  A aplicação deve executar em navegadores compatíveis com HTML5.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05840" y="4105656"/>
            <a:ext cx="99669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206240"/>
            <a:ext cx="9646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536"/>
                </a:solidFill>
              </a:rPr>
              <a:t>D  Os dados pessoais devem ser protegidos contra acesso não autorizado.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" y="4727448"/>
            <a:ext cx="99669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828032"/>
            <a:ext cx="9646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536"/>
                </a:solidFill>
              </a:rPr>
              <a:t>E  A implantação deve ocorrer até o final do semestre.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4864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</a:rPr>
              <a:t>Gabarito: B • Evidência avaliada: distinguir comportamento oferecido pelo sistema de restrições de qualidade, plataforma, segurança ou projeto.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8. Exemplo completo: SQL e modelo relacional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Modelo autoral inspirado na Q17: o contexto obriga o estudante a selecionar uma consulta tecnicamente válida.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52536"/>
                </a:solidFill>
              </a:rPr>
              <a:t>Considere CLIENTE(id, nome) e PEDIDO(id, cliente_id, valor). Deseja-se listar cada cliente com o valor médio de seus pedidos, do maior para o menor. Qual consulta atende ao requisito?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1993392"/>
            <a:ext cx="10561320" cy="45720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0312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5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SELECT nome, valor FROM CLIENTE JOIN PEDIDO ... ORDER BY valor;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822960" y="2633472"/>
            <a:ext cx="10561320" cy="45720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74320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5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SELECT nome, AVG(valor) FROM CLIENTE JOIN PEDIDO ... ORDER BY valor DESC;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22960" y="3273552"/>
            <a:ext cx="10561320" cy="457200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38328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5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SELECT nome, AVG(valor) FROM CLIENTE JOIN PEDIDO ... GROUP BY id, nome ORDER BY AVG(valor) DESC;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22960" y="3913632"/>
            <a:ext cx="10561320" cy="45720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02336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5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SELECT nome, SUM(valor) FROM CLIENTE JOIN PEDIDO ... GROUP BY nome;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2960" y="4553712"/>
            <a:ext cx="10561320" cy="457200"/>
          </a:xfrm>
          <a:prstGeom prst="roundRect">
            <a:avLst/>
          </a:prstGeom>
          <a:solidFill>
            <a:srgbClr val="F9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66344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5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SELECT nome, AVG(valor) FROM CLIENTE LEFT JOIN PEDIDO ... ORDER BY AVG(valor) DESC;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68680" y="553212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</a:rPr>
              <a:t>Gabarito: C • O distrator B testa a omissão do GROUP BY; D troca média por soma; E mantém agregação sem agrupamento.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9. Roteiro de produção em 8 passos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Um fluxo simples para professores construírem itens consistentes e revisáveis.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566928" cy="56692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27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35024" y="1435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Defina o conteúdo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35024" y="18105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6477"/>
                </a:solidFill>
              </a:rPr>
              <a:t>ex.: SQL, UML, testes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566928" cy="56692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527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87952" y="1435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Defina a habilidade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87952" y="18105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6477"/>
                </a:solidFill>
              </a:rPr>
              <a:t>analisar, aplicar, avaliar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27648" y="1417320"/>
            <a:ext cx="566928" cy="56692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527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1435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Crie o cenário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18105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6477"/>
                </a:solidFill>
              </a:rPr>
              <a:t>situação profissional realista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0576" y="1417320"/>
            <a:ext cx="566928" cy="56692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1527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93808" y="1435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Escolha a evidência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93808" y="18105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6477"/>
                </a:solidFill>
              </a:rPr>
              <a:t>código, diagrama, requisitos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3657600"/>
            <a:ext cx="566928" cy="56692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7673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35024" y="36758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Escreva o comando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35024" y="40507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6477"/>
                </a:solidFill>
              </a:rPr>
              <a:t>uma tarefa, sem ambiguidade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3657600"/>
            <a:ext cx="566928" cy="56692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7673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87952" y="36758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Construa o gabarito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87952" y="40507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6477"/>
                </a:solidFill>
              </a:rPr>
              <a:t>resposta completa e defensável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27648" y="3657600"/>
            <a:ext cx="566928" cy="56692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7673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40880" y="36758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Crie distratores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40507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6477"/>
                </a:solidFill>
              </a:rPr>
              <a:t>erros conceituais plausíveis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80576" y="3657600"/>
            <a:ext cx="566928" cy="56692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0576" y="37673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93808" y="36758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Faça revisão técnica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893808" y="40507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6477"/>
                </a:solidFill>
              </a:rPr>
              <a:t>clareza, suficiência e unicidade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10. Checklist de revisão antes de publicar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A revisão deve tentar “quebrar” o item antes que ele chegue ao estudante.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507492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4630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81328" y="144475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O enunciado contém todos os dados necessários?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507492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231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81328" y="24048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O comando pede exatamente uma decisão?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246120"/>
            <a:ext cx="507492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3832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81328" y="336499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Existe uma única alternativa tecnicamente correta?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4206240"/>
            <a:ext cx="507492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34340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81328" y="432511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As cinco alternativas são homogêneas em forma e nível?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1325880"/>
            <a:ext cx="507492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14630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59168" y="144475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Os distratores correspondem a erros plausíveis?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2286000"/>
            <a:ext cx="507492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24231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59168" y="24048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É possível acertar sem raciocinar, apenas por pista textual?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3246120"/>
            <a:ext cx="507492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33832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59168" y="336499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Código, UML, SQL ou configuração estão sintaticamente coerentes?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4206240"/>
            <a:ext cx="507492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434340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59168" y="432511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536"/>
                </a:solidFill>
              </a:rPr>
              <a:t>O gabarito possui justificativa técnica registrada pelo autor?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11. Banco de temas para ADS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A prova analisada cobre amplo espectro do curso, útil como referência para balancear um banco de itens.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4290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624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Engenharia de requisitos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4480560" y="1234440"/>
            <a:ext cx="34290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5152" y="13624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Algoritmos e programação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275320" y="1234440"/>
            <a:ext cx="34290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13624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Estruturas de dados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3429000" cy="475488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0756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Métodos ágeis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480560" y="1947672"/>
            <a:ext cx="3429000" cy="475488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0756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UML e modelagem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275320" y="1947672"/>
            <a:ext cx="3429000" cy="475488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20756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Banco de dados / SQL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85800" y="2660904"/>
            <a:ext cx="34290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7889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Arquitetura de software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480560" y="2660904"/>
            <a:ext cx="34290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27889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IHC e responsividade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275320" y="2660904"/>
            <a:ext cx="34290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27889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Gerência de configuração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85800" y="3374136"/>
            <a:ext cx="3429000" cy="475488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5021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Testes de software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480560" y="3374136"/>
            <a:ext cx="3429000" cy="475488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35021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Processos de desenvolvimento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275320" y="3374136"/>
            <a:ext cx="3429000" cy="475488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35021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LGPD e computação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85800" y="4087368"/>
            <a:ext cx="34290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2153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Arquitetura de computadores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480560" y="4087368"/>
            <a:ext cx="34290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42153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Sistemas operacionais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275320" y="4087368"/>
            <a:ext cx="34290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9912" y="42153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Redes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85800" y="4800600"/>
            <a:ext cx="3429000" cy="475488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9286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Lógica / sistemas especialistas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4480560" y="4800600"/>
            <a:ext cx="3429000" cy="475488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49286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Modelos de negócio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8275320" y="4800600"/>
            <a:ext cx="3429000" cy="475488"/>
          </a:xfrm>
          <a:prstGeom prst="roundRect">
            <a:avLst/>
          </a:prstGeom>
          <a:solidFill>
            <a:srgbClr val="F2F6F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9912" y="49286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52536"/>
                </a:solidFill>
              </a:rPr>
              <a:t>Maturidade de processos</a:t>
            </a:r>
            <a:endParaRPr lang="en-US" sz="112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12. Template pronto para escrever o próximo item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06477"/>
                </a:solidFill>
              </a:rPr>
              <a:t>Copie esta estrutura e substitua os campos pelo conteúdo da sua disciplina.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06527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54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A1F"/>
                </a:solidFill>
              </a:rPr>
              <a:t>CENÁRIO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536"/>
                </a:solidFill>
              </a:rPr>
              <a:t>[organização/persona] precisa [objetivo]. O sistema utiliza [tecnologia/modelo] e possui [restrições/dados].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A1F"/>
                </a:solidFill>
              </a:rPr>
              <a:t>EVIDÊNCIA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22402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536"/>
                </a:solidFill>
              </a:rPr>
              <a:t>[código | diagrama | tabela | requisitos | configuração | afirmações]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A1F"/>
                </a:solidFill>
              </a:rPr>
              <a:t>COMANDO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9260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536"/>
                </a:solidFill>
              </a:rPr>
              <a:t>Considerando o cenário apresentado, assinale a alternativa que [ação cognitiva objetiva].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657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A1F"/>
                </a:solidFill>
              </a:rPr>
              <a:t>ALTERNATIVAS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3611880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536"/>
                </a:solidFill>
              </a:rPr>
              <a:t>A [distrator]   B [distrator]   C [gabarito]   D [distrator]   E [distrator]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A1F"/>
                </a:solidFill>
              </a:rPr>
              <a:t>JUSTIFICATIVA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4297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536"/>
                </a:solidFill>
              </a:rPr>
              <a:t>Gabarito: ___. Justifique por que está correto e registre o erro conceitual explorado em cada distrator.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594360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Critério final: o estudante deve precisar mobilizar conhecimento técnico para decidir, não apenas reconhecer palavras-chave.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elaborar questões objetivas de ADS no estilo ENADE</dc:title>
  <dc:subject>Questões técnicas objetivas para ADS no estilo ENADE</dc:subject>
  <dc:creator>Mauricio Antonio Ferste</dc:creator>
  <cp:lastModifiedBy>Mauricio Antonio Ferste</cp:lastModifiedBy>
  <cp:revision>2</cp:revision>
  <dcterms:created xsi:type="dcterms:W3CDTF">2026-10-28T12:54:15Z</dcterms:created>
  <dcterms:modified xsi:type="dcterms:W3CDTF">2026-10-28T13:16:50Z</dcterms:modified>
</cp:coreProperties>
</file>